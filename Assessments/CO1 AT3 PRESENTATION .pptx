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B04F1E-618C-4275-89E4-6DD579E233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682DD96-E98B-4BD8-80E4-15071015956A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/>
          <p:nvPr/>
        </p:nvSpPr>
        <p:spPr>
          <a:xfrm>
            <a:off x="777240" y="1554480"/>
            <a:ext cx="9923400" cy="19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3600" strike="noStrike" u="none">
                <a:solidFill>
                  <a:srgbClr val="1c2536"/>
                </a:solidFill>
                <a:uFillTx/>
                <a:latin typeface="Aptos"/>
              </a:rPr>
              <a:t>2. SUBSTITUTION VS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3600" strike="noStrike" u="none">
                <a:solidFill>
                  <a:srgbClr val="1c2536"/>
                </a:solidFill>
                <a:uFillTx/>
                <a:latin typeface="Aptos"/>
              </a:rPr>
              <a:t>TRANSPOSITION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TextBox 11"/>
          <p:cNvSpPr/>
          <p:nvPr/>
        </p:nvSpPr>
        <p:spPr>
          <a:xfrm>
            <a:off x="822960" y="4389120"/>
            <a:ext cx="7130880" cy="11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trike="noStrike" u="none">
                <a:solidFill>
                  <a:srgbClr val="1c2536"/>
                </a:solidFill>
                <a:uFillTx/>
                <a:latin typeface="Aptos"/>
              </a:rPr>
              <a:t>Presented by: L. Infant Ency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trike="noStrike" u="none">
                <a:solidFill>
                  <a:srgbClr val="1c2536"/>
                </a:solidFill>
                <a:uFillTx/>
                <a:latin typeface="Aptos"/>
              </a:rPr>
              <a:t>Register No: 1965260003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trike="noStrike" u="none">
                <a:solidFill>
                  <a:srgbClr val="1c2536"/>
                </a:solidFill>
                <a:uFillTx/>
                <a:latin typeface="Aptos"/>
              </a:rPr>
              <a:t>Subject: Cryptography and Network Security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6357600" y="800640"/>
            <a:ext cx="5123520" cy="512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/>
        </p:nvSpPr>
        <p:spPr>
          <a:xfrm>
            <a:off x="0" y="0"/>
            <a:ext cx="117360" cy="6856560"/>
          </a:xfrm>
          <a:prstGeom prst="rect">
            <a:avLst/>
          </a:prstGeom>
          <a:solidFill>
            <a:srgbClr val="0069a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8680" rIns="586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" name="TextBox 2"/>
          <p:cNvSpPr/>
          <p:nvPr/>
        </p:nvSpPr>
        <p:spPr>
          <a:xfrm>
            <a:off x="640080" y="411480"/>
            <a:ext cx="109713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900" strike="noStrike" u="none">
                <a:solidFill>
                  <a:srgbClr val="0069aa"/>
                </a:solidFill>
                <a:uFillTx/>
                <a:latin typeface="Aptos"/>
              </a:rPr>
              <a:t> </a:t>
            </a:r>
            <a:r>
              <a:rPr b="1" lang="en-US" sz="2900" strike="noStrike" u="none">
                <a:solidFill>
                  <a:srgbClr val="0069aa"/>
                </a:solidFill>
                <a:uFillTx/>
                <a:latin typeface="Aptos"/>
              </a:rPr>
              <a:t>Introduction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TextBox 3"/>
          <p:cNvSpPr/>
          <p:nvPr/>
        </p:nvSpPr>
        <p:spPr>
          <a:xfrm>
            <a:off x="685800" y="1051560"/>
            <a:ext cx="10697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400" strike="noStrike" u="none">
                <a:solidFill>
                  <a:srgbClr val="5f6c7c"/>
                </a:solidFill>
                <a:uFillTx/>
                <a:latin typeface="Aptos"/>
              </a:rPr>
              <a:t>Encryption changes readable information into a coded form.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Rounded Rectangle 4"/>
          <p:cNvSpPr/>
          <p:nvPr/>
        </p:nvSpPr>
        <p:spPr>
          <a:xfrm>
            <a:off x="568440" y="1719720"/>
            <a:ext cx="7108200" cy="4205880"/>
          </a:xfrm>
          <a:prstGeom prst="roundRect">
            <a:avLst>
              <a:gd name="adj" fmla="val 16667"/>
            </a:avLst>
          </a:prstGeom>
          <a:solidFill>
            <a:srgbClr val="e1f3fc"/>
          </a:solidFill>
          <a:ln>
            <a:solidFill>
              <a:srgbClr val="cadae6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" name="TextBox 5"/>
          <p:cNvSpPr/>
          <p:nvPr/>
        </p:nvSpPr>
        <p:spPr>
          <a:xfrm>
            <a:off x="798120" y="2016000"/>
            <a:ext cx="6916680" cy="23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1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100" strike="noStrike" u="none">
                <a:solidFill>
                  <a:srgbClr val="1c2536"/>
                </a:solidFill>
                <a:uFillTx/>
                <a:latin typeface="Aptos"/>
              </a:rPr>
              <a:t>Plaintext is the original message that can be read.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1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100" strike="noStrike" u="none">
                <a:solidFill>
                  <a:srgbClr val="1c2536"/>
                </a:solidFill>
                <a:uFillTx/>
                <a:latin typeface="Aptos"/>
              </a:rPr>
              <a:t>Ciphertext is the message after encryption.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1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100" strike="noStrike" u="none">
                <a:solidFill>
                  <a:srgbClr val="1c2536"/>
                </a:solidFill>
                <a:uFillTx/>
                <a:latin typeface="Aptos"/>
              </a:rPr>
              <a:t>A cipher uses a method and often a key to transform a message.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1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100" strike="noStrike" u="none">
                <a:solidFill>
                  <a:srgbClr val="1c2536"/>
                </a:solidFill>
                <a:uFillTx/>
                <a:latin typeface="Aptos"/>
              </a:rPr>
              <a:t>Substitution and transposition are two classical encryption techniques.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7935480" y="1487880"/>
            <a:ext cx="4026960" cy="388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/>
          <p:cNvSpPr/>
          <p:nvPr/>
        </p:nvSpPr>
        <p:spPr>
          <a:xfrm>
            <a:off x="0" y="0"/>
            <a:ext cx="117360" cy="6856560"/>
          </a:xfrm>
          <a:prstGeom prst="rect">
            <a:avLst/>
          </a:prstGeom>
          <a:solidFill>
            <a:srgbClr val="0069a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8680" rIns="586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" name="TextBox 2"/>
          <p:cNvSpPr/>
          <p:nvPr/>
        </p:nvSpPr>
        <p:spPr>
          <a:xfrm>
            <a:off x="640080" y="411480"/>
            <a:ext cx="109713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900" strike="noStrike" u="none">
                <a:solidFill>
                  <a:srgbClr val="0069aa"/>
                </a:solidFill>
                <a:uFillTx/>
                <a:latin typeface="Aptos"/>
              </a:rPr>
              <a:t> </a:t>
            </a:r>
            <a:r>
              <a:rPr b="1" lang="en-US" sz="2900" strike="noStrike" u="none">
                <a:solidFill>
                  <a:srgbClr val="0069aa"/>
                </a:solidFill>
                <a:uFillTx/>
                <a:latin typeface="Aptos"/>
              </a:rPr>
              <a:t>Substitution Cipher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TextBox 3"/>
          <p:cNvSpPr/>
          <p:nvPr/>
        </p:nvSpPr>
        <p:spPr>
          <a:xfrm>
            <a:off x="685800" y="1051560"/>
            <a:ext cx="10697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400" strike="noStrike" u="none">
                <a:solidFill>
                  <a:srgbClr val="5f6c7c"/>
                </a:solidFill>
                <a:uFillTx/>
                <a:latin typeface="Aptos"/>
              </a:rPr>
              <a:t>Substitution replaces letters or symbols with other letters or symbols.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Rounded Rectangle 4"/>
          <p:cNvSpPr/>
          <p:nvPr/>
        </p:nvSpPr>
        <p:spPr>
          <a:xfrm>
            <a:off x="685800" y="1691640"/>
            <a:ext cx="10834200" cy="4433400"/>
          </a:xfrm>
          <a:prstGeom prst="roundRect">
            <a:avLst>
              <a:gd name="adj" fmla="val 16667"/>
            </a:avLst>
          </a:prstGeom>
          <a:solidFill>
            <a:srgbClr val="e1f3fc"/>
          </a:solidFill>
          <a:ln>
            <a:solidFill>
              <a:srgbClr val="cadae6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8" name="TextBox 5"/>
          <p:cNvSpPr/>
          <p:nvPr/>
        </p:nvSpPr>
        <p:spPr>
          <a:xfrm>
            <a:off x="1051560" y="1993320"/>
            <a:ext cx="1010268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The positions of the letters generally remain the same.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Each character is changed according to a rule or key.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Example: a Caesar shift of 3 changes HELLO into KHOOR.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Basic substitution is weak because letter-frequency patterns can reveal clues.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/>
          <p:cNvSpPr/>
          <p:nvPr/>
        </p:nvSpPr>
        <p:spPr>
          <a:xfrm>
            <a:off x="0" y="0"/>
            <a:ext cx="117360" cy="6856560"/>
          </a:xfrm>
          <a:prstGeom prst="rect">
            <a:avLst/>
          </a:prstGeom>
          <a:solidFill>
            <a:srgbClr val="0069a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8680" rIns="586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0" name="TextBox 2"/>
          <p:cNvSpPr/>
          <p:nvPr/>
        </p:nvSpPr>
        <p:spPr>
          <a:xfrm>
            <a:off x="640080" y="411480"/>
            <a:ext cx="109713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900" strike="noStrike" u="none">
                <a:solidFill>
                  <a:srgbClr val="0069aa"/>
                </a:solidFill>
                <a:uFillTx/>
                <a:latin typeface="Aptos"/>
              </a:rPr>
              <a:t>3. Transposition Cipher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TextBox 3"/>
          <p:cNvSpPr/>
          <p:nvPr/>
        </p:nvSpPr>
        <p:spPr>
          <a:xfrm>
            <a:off x="685800" y="1051560"/>
            <a:ext cx="10697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400" strike="noStrike" u="none">
                <a:solidFill>
                  <a:srgbClr val="5f6c7c"/>
                </a:solidFill>
                <a:uFillTx/>
                <a:latin typeface="Aptos"/>
              </a:rPr>
              <a:t>Transposition rearranges the positions of letters without replacing them.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Rounded Rectangle 4"/>
          <p:cNvSpPr/>
          <p:nvPr/>
        </p:nvSpPr>
        <p:spPr>
          <a:xfrm>
            <a:off x="685800" y="1691640"/>
            <a:ext cx="10834200" cy="4433400"/>
          </a:xfrm>
          <a:prstGeom prst="roundRect">
            <a:avLst>
              <a:gd name="adj" fmla="val 16667"/>
            </a:avLst>
          </a:prstGeom>
          <a:solidFill>
            <a:srgbClr val="e1f3fc"/>
          </a:solidFill>
          <a:ln>
            <a:solidFill>
              <a:srgbClr val="cadae6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3" name="TextBox 5"/>
          <p:cNvSpPr/>
          <p:nvPr/>
        </p:nvSpPr>
        <p:spPr>
          <a:xfrm>
            <a:off x="1051560" y="1993320"/>
            <a:ext cx="1010268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The original letters remain, but their order changes.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A key or pattern determines how the letters are rearranged.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Example: TEAM can be rearranged as META in a simple illustrative example.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Basic transposition can be attacked by testing possible rearrangement patterns.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/>
        </p:nvSpPr>
        <p:spPr>
          <a:xfrm>
            <a:off x="0" y="0"/>
            <a:ext cx="117360" cy="6856560"/>
          </a:xfrm>
          <a:prstGeom prst="rect">
            <a:avLst/>
          </a:prstGeom>
          <a:solidFill>
            <a:srgbClr val="0069a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8680" rIns="586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5" name="TextBox 2"/>
          <p:cNvSpPr/>
          <p:nvPr/>
        </p:nvSpPr>
        <p:spPr>
          <a:xfrm>
            <a:off x="640080" y="411480"/>
            <a:ext cx="109713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900" strike="noStrike" u="none">
                <a:solidFill>
                  <a:srgbClr val="0069aa"/>
                </a:solidFill>
                <a:uFillTx/>
                <a:latin typeface="Aptos"/>
              </a:rPr>
              <a:t>4. Main Differences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TextBox 3"/>
          <p:cNvSpPr/>
          <p:nvPr/>
        </p:nvSpPr>
        <p:spPr>
          <a:xfrm>
            <a:off x="685800" y="1051560"/>
            <a:ext cx="10697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400" strike="noStrike" u="none">
                <a:solidFill>
                  <a:srgbClr val="5f6c7c"/>
                </a:solidFill>
                <a:uFillTx/>
                <a:latin typeface="Aptos"/>
              </a:rPr>
              <a:t>Both methods hide information, but they work differently.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Rounded Rectangle 4"/>
          <p:cNvSpPr/>
          <p:nvPr/>
        </p:nvSpPr>
        <p:spPr>
          <a:xfrm>
            <a:off x="685800" y="1691640"/>
            <a:ext cx="7396200" cy="4433400"/>
          </a:xfrm>
          <a:prstGeom prst="roundRect">
            <a:avLst>
              <a:gd name="adj" fmla="val 16667"/>
            </a:avLst>
          </a:prstGeom>
          <a:solidFill>
            <a:srgbClr val="e1f3fc"/>
          </a:solidFill>
          <a:ln>
            <a:solidFill>
              <a:srgbClr val="cadae6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8" name="TextBox 5"/>
          <p:cNvSpPr/>
          <p:nvPr/>
        </p:nvSpPr>
        <p:spPr>
          <a:xfrm>
            <a:off x="1051560" y="1993320"/>
            <a:ext cx="6642360" cy="34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Substitution changes the characters; transposition changes their positions.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Substitution preserves the order of character positions, while transposition preserves the characters.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Frequency analysis can help break simple substitution ciphers.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Pattern and rearrangement analysis can help break simple transposition ciphers.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Neither basic method is suitable alone for protecting modern sensitive data.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"/>
          <p:cNvSpPr/>
          <p:nvPr/>
        </p:nvSpPr>
        <p:spPr>
          <a:xfrm>
            <a:off x="0" y="0"/>
            <a:ext cx="117360" cy="6856560"/>
          </a:xfrm>
          <a:prstGeom prst="rect">
            <a:avLst/>
          </a:prstGeom>
          <a:solidFill>
            <a:srgbClr val="0069a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8680" rIns="586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0" name="TextBox 2"/>
          <p:cNvSpPr/>
          <p:nvPr/>
        </p:nvSpPr>
        <p:spPr>
          <a:xfrm>
            <a:off x="640080" y="411480"/>
            <a:ext cx="109713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900" strike="noStrike" u="none">
                <a:solidFill>
                  <a:srgbClr val="0069aa"/>
                </a:solidFill>
                <a:uFillTx/>
                <a:latin typeface="Aptos"/>
              </a:rPr>
              <a:t>5. Which Provides Better Security?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TextBox 3"/>
          <p:cNvSpPr/>
          <p:nvPr/>
        </p:nvSpPr>
        <p:spPr>
          <a:xfrm>
            <a:off x="685800" y="1051560"/>
            <a:ext cx="10697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400" strike="noStrike" u="none">
                <a:solidFill>
                  <a:srgbClr val="5f6c7c"/>
                </a:solidFill>
                <a:uFillTx/>
                <a:latin typeface="Aptos"/>
              </a:rPr>
              <a:t>The strength depends on the exact cipher, key, and way it is used.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Rounded Rectangle 4"/>
          <p:cNvSpPr/>
          <p:nvPr/>
        </p:nvSpPr>
        <p:spPr>
          <a:xfrm>
            <a:off x="226080" y="1740600"/>
            <a:ext cx="6456240" cy="4433400"/>
          </a:xfrm>
          <a:prstGeom prst="roundRect">
            <a:avLst>
              <a:gd name="adj" fmla="val 16667"/>
            </a:avLst>
          </a:prstGeom>
          <a:solidFill>
            <a:srgbClr val="e1f3fc"/>
          </a:solidFill>
          <a:ln>
            <a:solidFill>
              <a:srgbClr val="cadae6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3" name="TextBox 5"/>
          <p:cNvSpPr/>
          <p:nvPr/>
        </p:nvSpPr>
        <p:spPr>
          <a:xfrm>
            <a:off x="750600" y="2161440"/>
            <a:ext cx="4948560" cy="365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A simple substitution cipher is weak because language patterns may reveal the message.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A simple transposition cipher is also weak because it keeps all original letters.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Combining the methods can make classical ciphers harder to solve, but does not provide modern security.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1900" strike="noStrike" u="none">
                <a:solidFill>
                  <a:srgbClr val="1c2536"/>
                </a:solidFill>
                <a:uFillTx/>
                <a:latin typeface="Aptos"/>
              </a:rPr>
              <a:t>Modern systems use trusted cryptographic algorithms, strong keys, and correct implementation.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7016040" y="1466280"/>
            <a:ext cx="4440240" cy="4991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1"/>
          <p:cNvSpPr/>
          <p:nvPr/>
        </p:nvSpPr>
        <p:spPr>
          <a:xfrm>
            <a:off x="0" y="0"/>
            <a:ext cx="117360" cy="6856560"/>
          </a:xfrm>
          <a:prstGeom prst="rect">
            <a:avLst/>
          </a:prstGeom>
          <a:solidFill>
            <a:srgbClr val="0069a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8680" rIns="586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6" name="TextBox 2"/>
          <p:cNvSpPr/>
          <p:nvPr/>
        </p:nvSpPr>
        <p:spPr>
          <a:xfrm>
            <a:off x="640080" y="411480"/>
            <a:ext cx="109713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900" strike="noStrike" u="none">
                <a:solidFill>
                  <a:srgbClr val="0069aa"/>
                </a:solidFill>
                <a:uFillTx/>
                <a:latin typeface="Aptos"/>
              </a:rPr>
              <a:t>6. Importance in Network Security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TextBox 3"/>
          <p:cNvSpPr/>
          <p:nvPr/>
        </p:nvSpPr>
        <p:spPr>
          <a:xfrm>
            <a:off x="685800" y="1051560"/>
            <a:ext cx="10697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400" strike="noStrike" u="none">
                <a:solidFill>
                  <a:srgbClr val="5f6c7c"/>
                </a:solidFill>
                <a:uFillTx/>
                <a:latin typeface="Aptos"/>
              </a:rPr>
              <a:t>Ethical security testing checks whether data is protected properly.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Rounded Rectangle 4"/>
          <p:cNvSpPr/>
          <p:nvPr/>
        </p:nvSpPr>
        <p:spPr>
          <a:xfrm>
            <a:off x="347400" y="1670760"/>
            <a:ext cx="7279920" cy="4433400"/>
          </a:xfrm>
          <a:prstGeom prst="roundRect">
            <a:avLst>
              <a:gd name="adj" fmla="val 16667"/>
            </a:avLst>
          </a:prstGeom>
          <a:solidFill>
            <a:srgbClr val="e1f3fc"/>
          </a:solidFill>
          <a:ln>
            <a:solidFill>
              <a:srgbClr val="cadae6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9" name="TextBox 5"/>
          <p:cNvSpPr/>
          <p:nvPr/>
        </p:nvSpPr>
        <p:spPr>
          <a:xfrm>
            <a:off x="1051560" y="1993320"/>
            <a:ext cx="5845320" cy="29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Check that applications use modern, trusted encryption protocols.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Look for weak algorithms, poor key storage, or hard-coded secrets.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Perform security testing only with written permission and a defined scope.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Report weaknesses clearly and recommend approved cryptographic standards.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7909560" y="1777320"/>
            <a:ext cx="3819240" cy="383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17360" cy="6856560"/>
          </a:xfrm>
          <a:prstGeom prst="rect">
            <a:avLst/>
          </a:prstGeom>
          <a:solidFill>
            <a:srgbClr val="0069a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8680" rIns="586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640080" y="411480"/>
            <a:ext cx="109713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900" strike="noStrike" u="none">
                <a:solidFill>
                  <a:srgbClr val="0069aa"/>
                </a:solidFill>
                <a:uFillTx/>
                <a:latin typeface="Aptos"/>
              </a:rPr>
              <a:t>7. Conclusion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685800" y="1051560"/>
            <a:ext cx="10697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400" strike="noStrike" u="none">
                <a:solidFill>
                  <a:srgbClr val="5f6c7c"/>
                </a:solidFill>
                <a:uFillTx/>
                <a:latin typeface="Aptos"/>
              </a:rPr>
              <a:t>Modern security requires more than replacing or rearranging letters.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Rounded Rectangle 4"/>
          <p:cNvSpPr/>
          <p:nvPr/>
        </p:nvSpPr>
        <p:spPr>
          <a:xfrm>
            <a:off x="685800" y="1691640"/>
            <a:ext cx="10834200" cy="4433400"/>
          </a:xfrm>
          <a:prstGeom prst="roundRect">
            <a:avLst>
              <a:gd name="adj" fmla="val 16667"/>
            </a:avLst>
          </a:prstGeom>
          <a:solidFill>
            <a:srgbClr val="e1f3fc"/>
          </a:solidFill>
          <a:ln>
            <a:solidFill>
              <a:srgbClr val="cadae6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1051560" y="1993320"/>
            <a:ext cx="10102680" cy="19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Substitution replaces characters; transposition rearranges them.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Both are useful for understanding the foundations of cryptography.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Neither basic technique alone should protect confidential data today.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Modern cryptographic standards, strong keys, and careful implementation offer stronger protection.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/>
          <p:nvPr/>
        </p:nvSpPr>
        <p:spPr>
          <a:xfrm>
            <a:off x="0" y="0"/>
            <a:ext cx="117360" cy="6856560"/>
          </a:xfrm>
          <a:prstGeom prst="rect">
            <a:avLst/>
          </a:prstGeom>
          <a:solidFill>
            <a:srgbClr val="0069a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8680" rIns="5868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7" name="TextBox 2"/>
          <p:cNvSpPr/>
          <p:nvPr/>
        </p:nvSpPr>
        <p:spPr>
          <a:xfrm>
            <a:off x="640080" y="411480"/>
            <a:ext cx="109713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900" strike="noStrike" u="none">
                <a:solidFill>
                  <a:srgbClr val="0069aa"/>
                </a:solidFill>
                <a:uFillTx/>
                <a:latin typeface="Aptos"/>
              </a:rPr>
              <a:t>References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TextBox 3"/>
          <p:cNvSpPr/>
          <p:nvPr/>
        </p:nvSpPr>
        <p:spPr>
          <a:xfrm>
            <a:off x="685800" y="1051560"/>
            <a:ext cx="10697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400" strike="noStrike" u="none">
                <a:solidFill>
                  <a:srgbClr val="5f6c7c"/>
                </a:solidFill>
                <a:uFillTx/>
                <a:latin typeface="Aptos"/>
              </a:rPr>
              <a:t>Sources for further reading.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Rounded Rectangle 4"/>
          <p:cNvSpPr/>
          <p:nvPr/>
        </p:nvSpPr>
        <p:spPr>
          <a:xfrm>
            <a:off x="685800" y="1691640"/>
            <a:ext cx="10834200" cy="4433400"/>
          </a:xfrm>
          <a:prstGeom prst="roundRect">
            <a:avLst>
              <a:gd name="adj" fmla="val 16667"/>
            </a:avLst>
          </a:prstGeom>
          <a:solidFill>
            <a:srgbClr val="e1f3fc"/>
          </a:solidFill>
          <a:ln>
            <a:solidFill>
              <a:srgbClr val="cadae6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0" name="TextBox 5"/>
          <p:cNvSpPr/>
          <p:nvPr/>
        </p:nvSpPr>
        <p:spPr>
          <a:xfrm>
            <a:off x="1051560" y="1993320"/>
            <a:ext cx="1010268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NIST — Cryptographic Standards and Guidelines: csrc.nist.gov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OWASP — Cryptographic Storage Cheat Sheet: cheatsheetseries.owasp.org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Course handout — Annexure A, Technical Presentation, Topic 2.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•  </a:t>
            </a:r>
            <a:r>
              <a:rPr b="0" lang="en-US" sz="2000" strike="noStrike" u="none">
                <a:solidFill>
                  <a:srgbClr val="1c2536"/>
                </a:solidFill>
                <a:uFillTx/>
                <a:latin typeface="Aptos"/>
              </a:rPr>
              <a:t>Examples in this presentation are simplified for learning.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212760" y="117360"/>
            <a:ext cx="11706840" cy="658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LibreOfficeDev/24.8.7.2.0$Android_AARCH64 LibreOffice_project/</Application>
  <AppVersion>15.0000</AppVersion>
  <Words>3728</Words>
  <Paragraphs>101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  <dc:creator/>
  <dc:description>generated using python-pptx</dc:description>
  <dc:language>en-US</dc:language>
  <cp:lastModifiedBy/>
  <dcterms:modified xsi:type="dcterms:W3CDTF">2026-10-12T09:23:03Z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B23B50BADF114DF78C3995F6CA442448_12</vt:lpwstr>
  </property>
  <property fmtid="{D5CDD505-2E9C-101B-9397-08002B2CF9AE}" pid="3" name="KSOProductBuildVer">
    <vt:lpwstr>1033-12.1.0.28485</vt:lpwstr>
  </property>
  <property fmtid="{D5CDD505-2E9C-101B-9397-08002B2CF9AE}" pid="4" name="PresentationFormat">
    <vt:lpwstr>On-screen Show (4:3)</vt:lpwstr>
  </property>
  <property fmtid="{D5CDD505-2E9C-101B-9397-08002B2CF9AE}" pid="5" name="Slides">
    <vt:r8>9</vt:r8>
  </property>
</Properties>
</file>